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"/>
  </p:notesMasterIdLst>
  <p:sldIdLst>
    <p:sldId id="536" r:id="rId3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831E18-F231-4EC0-8682-8C7010C919FC}">
          <p14:sldIdLst>
            <p14:sldId id="536"/>
          </p14:sldIdLst>
        </p14:section>
      </p14:sectionLst>
    </p:ext>
    <p:ext uri="{EFAFB233-063F-42B5-8137-9DF3F51BA10A}">
      <p15:sldGuideLst xmlns:p15="http://schemas.microsoft.com/office/powerpoint/2012/main">
        <p15:guide id="2" pos="2160">
          <p15:clr>
            <a:srgbClr val="A4A3A4"/>
          </p15:clr>
        </p15:guide>
        <p15:guide id="3" orient="horz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임동섭(LIM, DONG-SEOP)" initials="임DS" lastIdx="1" clrIdx="0">
    <p:extLst>
      <p:ext uri="{19B8F6BF-5375-455C-9EA6-DF929625EA0E}">
        <p15:presenceInfo xmlns:p15="http://schemas.microsoft.com/office/powerpoint/2012/main" userId="S::dslim@poscointl.com::4efd2ff3-bf26-4afa-abd1-b0812e6d4d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3333FF"/>
    <a:srgbClr val="0070C0"/>
    <a:srgbClr val="FFCC00"/>
    <a:srgbClr val="D6DCE5"/>
    <a:srgbClr val="E4F1FA"/>
    <a:srgbClr val="E7E6E6"/>
    <a:srgbClr val="F3F8FC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601" autoAdjust="0"/>
  </p:normalViewPr>
  <p:slideViewPr>
    <p:cSldViewPr snapToGrid="0">
      <p:cViewPr>
        <p:scale>
          <a:sx n="100" d="100"/>
          <a:sy n="100" d="100"/>
        </p:scale>
        <p:origin x="1694" y="298"/>
      </p:cViewPr>
      <p:guideLst>
        <p:guide pos="2160"/>
        <p:guide orient="horz"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/>
          <a:lstStyle>
            <a:lvl1pPr algn="r">
              <a:defRPr sz="1200"/>
            </a:lvl1pPr>
          </a:lstStyle>
          <a:p>
            <a:fld id="{A63A6CCD-97D5-48AB-81DC-C1C48D88DAEA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7" rIns="91413" bIns="4570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13" tIns="45707" rIns="91413" bIns="457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13" tIns="45707" rIns="91413" bIns="45707" rtlCol="0" anchor="b"/>
          <a:lstStyle>
            <a:lvl1pPr algn="r">
              <a:defRPr sz="1200"/>
            </a:lvl1pPr>
          </a:lstStyle>
          <a:p>
            <a:fld id="{81828073-5282-45E3-9E72-82E03D438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0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43A2-9417-9721-EAC0-B325EF54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CE4CC0-856B-0BD7-2D91-DBE9D643B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F0FC98-A4CB-CF7B-6F06-6304D7DFD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/>
              <a:t>개요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시장가격 급락으로 </a:t>
            </a:r>
            <a:r>
              <a:rPr lang="ko-KR" altLang="en-US" sz="1000" dirty="0" err="1"/>
              <a:t>하강포항</a:t>
            </a:r>
            <a:r>
              <a:rPr lang="ko-KR" altLang="en-US" sz="1000" dirty="0"/>
              <a:t> 판매 가능 가격 포스코 소재 한계 원가 </a:t>
            </a:r>
            <a:r>
              <a:rPr lang="en-US" altLang="ko-KR" sz="1000" dirty="0"/>
              <a:t>+</a:t>
            </a:r>
            <a:r>
              <a:rPr lang="ko-KR" altLang="en-US" sz="1000" dirty="0" err="1"/>
              <a:t>하강포항</a:t>
            </a:r>
            <a:r>
              <a:rPr lang="ko-KR" altLang="en-US" sz="1000" dirty="0"/>
              <a:t> 한계 원가 수준 </a:t>
            </a:r>
            <a:r>
              <a:rPr lang="en-US" altLang="ko-KR" sz="1000" dirty="0"/>
              <a:t>=&gt; </a:t>
            </a:r>
            <a:r>
              <a:rPr lang="ko-KR" altLang="en-US" sz="1000" dirty="0" err="1"/>
              <a:t>소재가격의</a:t>
            </a:r>
            <a:r>
              <a:rPr lang="ko-KR" altLang="en-US" sz="1000" dirty="0"/>
              <a:t> 적정 수준이 이슈화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하강포항</a:t>
            </a:r>
            <a:r>
              <a:rPr lang="ko-KR" altLang="en-US" sz="1000" dirty="0"/>
              <a:t> 요청사항</a:t>
            </a:r>
            <a:endParaRPr lang="en-US" altLang="ko-KR" sz="1000" dirty="0"/>
          </a:p>
          <a:p>
            <a:r>
              <a:rPr lang="ko-KR" altLang="en-US" sz="1000" dirty="0"/>
              <a:t>한계 원가로 달라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자소실</a:t>
            </a:r>
            <a:r>
              <a:rPr lang="ko-KR" altLang="en-US" sz="1000" dirty="0"/>
              <a:t> 입장</a:t>
            </a:r>
            <a:endParaRPr lang="en-US" altLang="ko-KR" sz="1000" dirty="0"/>
          </a:p>
          <a:p>
            <a:r>
              <a:rPr lang="ko-KR" altLang="en-US" sz="1000" dirty="0"/>
              <a:t>광동과 하강의 가격 이원화</a:t>
            </a:r>
            <a:r>
              <a:rPr lang="en-US" altLang="ko-KR" sz="1000" dirty="0"/>
              <a:t> </a:t>
            </a:r>
            <a:r>
              <a:rPr lang="ko-KR" altLang="en-US" sz="1000" dirty="0"/>
              <a:t>필요</a:t>
            </a:r>
            <a:r>
              <a:rPr lang="en-US" altLang="ko-KR" sz="1000" dirty="0"/>
              <a:t>. AD, </a:t>
            </a:r>
            <a:r>
              <a:rPr lang="ko-KR" altLang="en-US" sz="1000" dirty="0"/>
              <a:t>이전가격 이슈 검토 후 대응</a:t>
            </a:r>
            <a:endParaRPr lang="en-US" altLang="ko-KR" sz="1000" dirty="0"/>
          </a:p>
          <a:p>
            <a:endParaRPr lang="en-US" altLang="ko-KR" sz="1000" dirty="0"/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37F910-F675-8BAE-6869-D1301951E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28073-5282-45E3-9E72-82E03D438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6746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28617" y="559096"/>
            <a:ext cx="2933816" cy="390556"/>
          </a:xfrm>
        </p:spPr>
        <p:txBody>
          <a:bodyPr wrap="none">
            <a:spAutoFit/>
          </a:bodyPr>
          <a:lstStyle>
            <a:lvl1pPr>
              <a:defRPr sz="194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257175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0071"/>
            <a:ext cx="2628900" cy="8805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6343650" cy="5503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970"/>
            </a:lvl1pPr>
          </a:lstStyle>
          <a:p>
            <a:pPr defTabSz="632460"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60" y="9025467"/>
            <a:ext cx="2171700" cy="66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970"/>
            </a:lvl1pPr>
          </a:lstStyle>
          <a:p>
            <a:pPr defTabSz="632460"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6197261" y="9416978"/>
            <a:ext cx="660758" cy="262829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defRPr sz="1110">
                <a:latin typeface="Verdana" panose="020B0604030504040204" pitchFamily="34" charset="0"/>
              </a:defRPr>
            </a:lvl1pPr>
          </a:lstStyle>
          <a:p>
            <a:pPr defTabSz="632460">
              <a:defRPr/>
            </a:pPr>
            <a:fld id="{70E27A3F-9FE5-4C5C-B534-1162E705F9B0}" type="slidenum">
              <a:rPr lang="en-US" altLang="ko-KR" b="1" smtClean="0">
                <a:solidFill>
                  <a:srgbClr val="000000"/>
                </a:solidFill>
                <a:ea typeface="HY견명조" panose="02030600000101010101" pitchFamily="18" charset="-127"/>
              </a:rPr>
              <a:t>‹#›</a:t>
            </a:fld>
            <a:r>
              <a:rPr lang="en-US" altLang="ko-KR" b="1">
                <a:solidFill>
                  <a:srgbClr val="000000"/>
                </a:solidFill>
                <a:ea typeface="HY견명조" panose="02030600000101010101" pitchFamily="18" charset="-127"/>
              </a:rPr>
              <a:t>/6</a:t>
            </a:r>
            <a:endParaRPr lang="en-US" altLang="ko-KR" b="1" dirty="0">
              <a:solidFill>
                <a:srgbClr val="000000"/>
              </a:solidFill>
              <a:ea typeface="HY견명조" panose="0203060000010101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31623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63309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94932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26619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237490" indent="-237490" algn="l" rtl="0" fontAlgn="base" latinLnBrk="1">
        <a:spcBef>
          <a:spcPct val="20000"/>
        </a:spcBef>
        <a:spcAft>
          <a:spcPct val="0"/>
        </a:spcAft>
        <a:defRPr kumimoji="1" sz="97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14350" indent="-198120" algn="l" rtl="0" fontAlgn="base" latinLnBrk="1">
        <a:spcBef>
          <a:spcPct val="20000"/>
        </a:spcBef>
        <a:spcAft>
          <a:spcPct val="0"/>
        </a:spcAft>
        <a:buChar char="–"/>
        <a:defRPr kumimoji="1" sz="970">
          <a:solidFill>
            <a:schemeClr val="tx1"/>
          </a:solidFill>
          <a:latin typeface="+mn-lt"/>
          <a:ea typeface="+mn-ea"/>
        </a:defRPr>
      </a:lvl2pPr>
      <a:lvl3pPr marL="791210" indent="-158115" algn="l" rtl="0" fontAlgn="base" latinLnBrk="1">
        <a:spcBef>
          <a:spcPct val="20000"/>
        </a:spcBef>
        <a:spcAft>
          <a:spcPct val="0"/>
        </a:spcAft>
        <a:buChar char="•"/>
        <a:defRPr kumimoji="1" sz="970">
          <a:solidFill>
            <a:schemeClr val="tx1"/>
          </a:solidFill>
          <a:latin typeface="+mn-lt"/>
          <a:ea typeface="+mn-ea"/>
        </a:defRPr>
      </a:lvl3pPr>
      <a:lvl4pPr marL="1108075" indent="-158115" algn="l" rtl="0" fontAlgn="base" latinLnBrk="1">
        <a:spcBef>
          <a:spcPct val="20000"/>
        </a:spcBef>
        <a:spcAft>
          <a:spcPct val="0"/>
        </a:spcAft>
        <a:buChar char="–"/>
        <a:defRPr kumimoji="1" sz="970">
          <a:solidFill>
            <a:schemeClr val="tx1"/>
          </a:solidFill>
          <a:latin typeface="+mn-lt"/>
          <a:ea typeface="+mn-ea"/>
        </a:defRPr>
      </a:lvl4pPr>
      <a:lvl5pPr marL="1424305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5pPr>
      <a:lvl6pPr marL="174117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6pPr>
      <a:lvl7pPr marL="205740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7pPr>
      <a:lvl8pPr marL="2373630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8pPr>
      <a:lvl9pPr marL="2690495" indent="-158115" algn="l" rtl="0" fontAlgn="base" latinLnBrk="1">
        <a:spcBef>
          <a:spcPct val="20000"/>
        </a:spcBef>
        <a:spcAft>
          <a:spcPct val="0"/>
        </a:spcAft>
        <a:buChar char="»"/>
        <a:defRPr kumimoji="1" sz="97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1pPr>
      <a:lvl2pPr marL="31623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2pPr>
      <a:lvl3pPr marL="63309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3pPr>
      <a:lvl4pPr marL="94932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4pPr>
      <a:lvl5pPr marL="126619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5pPr>
      <a:lvl6pPr marL="158242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6pPr>
      <a:lvl7pPr marL="189928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7pPr>
      <a:lvl8pPr marL="2215515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8pPr>
      <a:lvl9pPr marL="2532380" algn="l" defTabSz="633095" rtl="0" eaLnBrk="1" latinLnBrk="1" hangingPunct="1">
        <a:defRPr sz="12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93D2E-618F-477C-AC8A-DB2E46E3479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829A9-6CCF-4034-AB45-208F4C993CB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A905-E975-41BD-690D-CA003ED1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E97D094-DE8C-644E-249C-7C154840FA3A}"/>
              </a:ext>
            </a:extLst>
          </p:cNvPr>
          <p:cNvSpPr/>
          <p:nvPr/>
        </p:nvSpPr>
        <p:spPr bwMode="auto">
          <a:xfrm>
            <a:off x="733921" y="6728324"/>
            <a:ext cx="5981854" cy="845956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497D"/>
                </a:solidFill>
                <a:latin typeface="맑은 고딕"/>
                <a:ea typeface="맑은 고딕"/>
              </a:rPr>
              <a:t>3. 주요 이슈 및 지연 사항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수출서류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거래처 코드 불일치 2건 발생 (화)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계약검토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2건 법무 확인 대기, 금요일 오전까지 미회신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통관대응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HS 코드 재확인 필요 — 동일 유형 반복 가능성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재고관리 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재고 수량 불일치 2건 (입고 처리 시점 차이 추정)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BFD4AF-7F85-0EBF-B82E-838E0A27DE91}"/>
              </a:ext>
            </a:extLst>
          </p:cNvPr>
          <p:cNvSpPr/>
          <p:nvPr/>
        </p:nvSpPr>
        <p:spPr bwMode="auto">
          <a:xfrm>
            <a:off x="733921" y="5696820"/>
            <a:ext cx="5981854" cy="551580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맑은 고딕"/>
                <a:ea typeface="맑은 고딕"/>
              </a:rPr>
              <a:t>2. 주요 지표 요약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</a:rPr>
              <a:t>완료율 92.4%   ·   지연 26건   ·   오류 8건   ·   고객 이슈 17건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5920CC-7D99-9FDE-55BF-D80872F8B3E0}"/>
              </a:ext>
            </a:extLst>
          </p:cNvPr>
          <p:cNvSpPr/>
          <p:nvPr/>
        </p:nvSpPr>
        <p:spPr bwMode="auto">
          <a:xfrm>
            <a:off x="733921" y="8054204"/>
            <a:ext cx="5981854" cy="1371736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맑은 고딕"/>
                <a:ea typeface="맑은 고딕"/>
              </a:rPr>
              <a:t>4. 후속 조치 및 다음 주 계획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거래처 코드 확인 절차를 수출서류 처리 전 우선 수행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통관 HS 코드 동일 유형 사전 점검 체계 마련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긴급 견적 1건, 다음 주 월요일 오전까지 회신 (영업지원)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재고 수량 불일치 원인(입고 시점 차이) 정밀 점검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참고 :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화요일 회의실 예약 완료 / 사내 교육 신청 마감 공지 전달 완료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309E2-E143-2600-30FD-A72D3BA393FD}"/>
              </a:ext>
            </a:extLst>
          </p:cNvPr>
          <p:cNvSpPr/>
          <p:nvPr/>
        </p:nvSpPr>
        <p:spPr bwMode="auto">
          <a:xfrm>
            <a:off x="733921" y="3345364"/>
            <a:ext cx="5981854" cy="1871532"/>
          </a:xfrm>
          <a:prstGeom prst="rect">
            <a:avLst/>
          </a:prstGeom>
          <a:solidFill>
            <a:srgbClr val="F3F3F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 vert="horz" wrap="square" lIns="330200" tIns="50800" rIns="127000" bIns="3810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497D"/>
                </a:solidFill>
                <a:latin typeface="맑은 고딕"/>
                <a:ea typeface="맑은 고딕"/>
              </a:rPr>
              <a:t>1. 팀별 처리 현황</a:t>
            </a:r>
            <a:endParaRPr lang="ko-KR" altLang="en-US" sz="140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물류운영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151건 · 완료 139건(92.1%) · 지연 12 · 오류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영업지원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77건 · 완료 72건(93.5%) · 지연 5 · 오류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재고관리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114건 · 완료 105건(92.1%) · 지연 9 · 오류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</a:rPr>
              <a:t>합계 : </a:t>
            </a: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처리 342건 · 완료 316건(92.4%) · 지연 26 · 오류 8</a:t>
            </a: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DBF69D3A-E4F4-3317-028A-21D3E8D87D97}"/>
              </a:ext>
            </a:extLst>
          </p:cNvPr>
          <p:cNvSpPr txBox="1">
            <a:spLocks/>
          </p:cNvSpPr>
          <p:nvPr/>
        </p:nvSpPr>
        <p:spPr>
          <a:xfrm>
            <a:off x="111590" y="701303"/>
            <a:ext cx="3317410" cy="3173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/>
          <a:p>
            <a:pPr latinLnBrk="0">
              <a:spcBef>
                <a:spcPct val="20000"/>
              </a:spcBef>
              <a:defRPr/>
            </a:pPr>
            <a:r>
              <a:rPr sz="1400" b="1">
                <a:solidFill>
                  <a:srgbClr val="1F497D"/>
                </a:solidFill>
                <a:latin typeface="맑은 고딕"/>
                <a:ea typeface="맑은 고딕"/>
              </a:rPr>
              <a:t>주간 업무 처리 결과</a:t>
            </a:r>
            <a:endParaRPr lang="ko-KR" altLang="en-US" sz="1400" b="1" kern="0" cap="small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035A50-5AD8-8942-A660-9BA6450E3576}"/>
              </a:ext>
            </a:extLst>
          </p:cNvPr>
          <p:cNvSpPr/>
          <p:nvPr/>
        </p:nvSpPr>
        <p:spPr>
          <a:xfrm>
            <a:off x="0" y="1653022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주간 주요 내용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9AAAD8-5CE4-9329-9D98-6F1D7A4BB821}"/>
              </a:ext>
            </a:extLst>
          </p:cNvPr>
          <p:cNvSpPr/>
          <p:nvPr/>
        </p:nvSpPr>
        <p:spPr>
          <a:xfrm>
            <a:off x="111590" y="1986510"/>
            <a:ext cx="6604185" cy="337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ts val="2200"/>
              </a:lnSpc>
              <a:buFont typeface="Wingdings" panose="05000000000000000000" pitchFamily="2" charset="2"/>
              <a:buChar char=""/>
              <a:defRPr/>
            </a:pPr>
            <a:r>
              <a:rPr lang="ko-KR" altLang="en-US" sz="1200" dirty="0" err="1" b="0">
                <a:solidFill>
                  <a:srgbClr val="000000"/>
                </a:solidFill>
                <a:latin typeface="맑은 고딕"/>
                <a:ea typeface="맑은 고딕"/>
              </a:rPr>
              <a:t>3개 팀이 이번 주 총 342건을 처리하여 완료율 92.4%(316건)를 기록함.</a:t>
            </a:r>
            <a:endParaRPr lang="en-US" altLang="ko-KR" sz="1200" dirty="0"/>
          </a:p>
          <a:p>
            <a:pPr marL="171450" indent="-171450" latinLnBrk="0">
              <a:lnSpc>
                <a:spcPts val="2200"/>
              </a:lnSpc>
              <a:buFont typeface="Wingdings" panose="05000000000000000000" pitchFamily="2" charset="2"/>
              <a:buChar char=""/>
              <a:defRPr/>
            </a:pPr>
            <a:r>
              <a:rPr lang="ko-KR" altLang="en-US" sz="1200" dirty="0" err="1" b="0">
                <a:solidFill>
                  <a:srgbClr val="000000"/>
                </a:solidFill>
                <a:latin typeface="맑은 고딕"/>
                <a:ea typeface="맑은 고딕"/>
              </a:rPr>
              <a:t>통관·수출서류 업무에 지연이 집중되었고, 거래처 코드·HS 코드 확인 등 후속 점검 과제가 도출됨.</a:t>
            </a:r>
            <a:endParaRPr lang="en-US" altLang="ko-KR" sz="120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B7C168B-EDA8-2042-F8A3-E2B99D4FE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633488"/>
              </p:ext>
            </p:extLst>
          </p:nvPr>
        </p:nvGraphicFramePr>
        <p:xfrm>
          <a:off x="79209" y="3083305"/>
          <a:ext cx="6636566" cy="6586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525">
                  <a:extLst>
                    <a:ext uri="{9D8B030D-6E8A-4147-A177-3AD203B41FA5}">
                      <a16:colId xmlns:a16="http://schemas.microsoft.com/office/drawing/2014/main" val="1890764811"/>
                    </a:ext>
                  </a:extLst>
                </a:gridCol>
                <a:gridCol w="5808041">
                  <a:extLst>
                    <a:ext uri="{9D8B030D-6E8A-4147-A177-3AD203B41FA5}">
                      <a16:colId xmlns:a16="http://schemas.microsoft.com/office/drawing/2014/main" val="3905890443"/>
                    </a:ext>
                  </a:extLst>
                </a:gridCol>
              </a:tblGrid>
              <a:tr h="6586727">
                <a:tc>
                  <a:txBody>
                    <a:bodyPr wrap="square"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497D"/>
                          </a:solidFill>
                          <a:latin typeface="맑은 고딕"/>
                          <a:ea typeface="맑은 고딕"/>
                        </a:rPr>
                        <a:t>주</a:t>
                      </a:r>
                      <a:endParaRPr lang="en-US" altLang="ko-KR" sz="9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497D"/>
                          </a:solidFill>
                          <a:latin typeface="맑은 고딕"/>
                          <a:ea typeface="맑은 고딕"/>
                        </a:rPr>
                        <a:t>간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497D"/>
                          </a:solidFill>
                          <a:latin typeface="맑은 고딕"/>
                          <a:ea typeface="맑은 고딕"/>
                        </a:rPr>
                        <a:t>운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1F497D"/>
                          </a:solidFill>
                          <a:latin typeface="맑은 고딕"/>
                          <a:ea typeface="맑은 고딕"/>
                        </a:rPr>
                        <a:t>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9319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F232C0-D8BA-35A9-03C6-508256756431}"/>
              </a:ext>
            </a:extLst>
          </p:cNvPr>
          <p:cNvSpPr/>
          <p:nvPr/>
        </p:nvSpPr>
        <p:spPr>
          <a:xfrm>
            <a:off x="-4227" y="1123224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보고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기간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 :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 2026-04-20(월) ~ 04-24(금)</a:t>
            </a:r>
            <a:endParaRPr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A75B92-A72B-B0BC-E5F7-367FC2C275DF}"/>
              </a:ext>
            </a:extLst>
          </p:cNvPr>
          <p:cNvSpPr/>
          <p:nvPr/>
        </p:nvSpPr>
        <p:spPr>
          <a:xfrm>
            <a:off x="3791" y="1394422"/>
            <a:ext cx="6814582" cy="2837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14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[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대상 팀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Wingdings" pitchFamily="2" charset="2"/>
              </a:rPr>
              <a:t>] :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 물류운영 · 영업지원 · 재고관리</a:t>
            </a:r>
          </a:p>
        </p:txBody>
      </p:sp>
      <p:pic>
        <p:nvPicPr>
          <p:cNvPr id="4" name="Picture 1" descr="02.jpg">
            <a:extLst>
              <a:ext uri="{FF2B5EF4-FFF2-40B4-BE49-F238E27FC236}">
                <a16:creationId xmlns:a16="http://schemas.microsoft.com/office/drawing/2014/main" id="{79F77235-6845-48A7-8ED6-4817FDE009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27" y="-15552"/>
            <a:ext cx="6872946" cy="64807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392B508-A0AF-9A2A-8835-57D00CA8E1B3}"/>
              </a:ext>
            </a:extLst>
          </p:cNvPr>
          <p:cNvSpPr/>
          <p:nvPr/>
        </p:nvSpPr>
        <p:spPr>
          <a:xfrm>
            <a:off x="-91581" y="100844"/>
            <a:ext cx="686276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200" b="1" spc="-150" dirty="0" err="1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 운영 현황 보고</a:t>
            </a:r>
            <a:endParaRPr lang="en-US" altLang="ko-KR" sz="2200" b="1" spc="-15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7187611"/>
      </p:ext>
    </p:extLst>
  </p:cSld>
  <p:clrMapOvr>
    <a:masterClrMapping/>
  </p:clrMapOvr>
</p:sld>
</file>

<file path=ppt/theme/theme1.xml><?xml version="1.0" encoding="utf-8"?>
<a:theme xmlns:a="http://schemas.openxmlformats.org/drawingml/2006/main" name="6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3333CC"/>
      </a:accent2>
      <a:accent3>
        <a:srgbClr val="FFFFFF"/>
      </a:accent3>
      <a:accent4>
        <a:srgbClr val="000000"/>
      </a:accent4>
      <a:accent5>
        <a:srgbClr val="DCDCDC"/>
      </a:accent5>
      <a:accent6>
        <a:srgbClr val="2D2DB9"/>
      </a:accent6>
      <a:hlink>
        <a:srgbClr val="CCCCFF"/>
      </a:hlink>
      <a:folHlink>
        <a:srgbClr val="B2B2B2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Words>59</Words>
  <TotalTime>0</TotalTime>
  <Application>Microsoft Office PowerPoint</Application>
  <Template>Office Theme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조상현 曺翔泫</dc:creator>
  <dcterms:modified xsi:type="dcterms:W3CDTF">2026-04-29T07:36:35Z</dcterms:modified>
  <dc:title>PowerPoint 프레젠테이션</dc:title>
  <cp:lastPrinted>2024-09-12T16:56:26Z</cp:lastPrinted>
  <cp:lastModifiedBy>왕희상(WANG, HEE-SANG)</cp:lastModifiedBy>
  <dcterms:created xsi:type="dcterms:W3CDTF">2019-01-09T04:43:00Z</dcterms:created>
  <cp:revision>2380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NDUzIiwibG9nVGltZSI6IjIwMjUtMDQtMDlUMDE6Mjg6MTNaIiwicElEIjoxLCJwcm9jZXNzSWQiOjE2NzYwLCJwcm9jZXNzTmFtZSI6IlBPV0VSUE5ULkVYRSIsInRyYWNlSWQiOiJBQzMyOEYxMEYzQzA0NTExQjA3NDJBNDZDN0Q2RDMwNiIsInVzZXJDb2RlIjoic3JrYW5nIn0sIm5vZGUyIjp7ImRzZCI6IjAxMDAwMDAwMDAwMDI0NTMiLCJsb2dUaW1lIjoiMjAyNS0wNC0wOVQyMzowNzo0MFoiLCJwSUQiOjEsInByb2Nlc3NJZCI6MTY3NjAsInByb2Nlc3NOYW1lIjoiUE9XRVJQTlQuRVhFIiwidHJhY2VJZCI6IkQ5RDNGODFCOUJCOTRDOTQ4OTkzNzlERjMyRkYwOTkxIiwidXNlckNvZGUiOiJzcmthbmcifSwibm9kZTMiOnsiZHNkIjoiMDEwMDAwMDAwMDAwMjQ1MyIsImxvZ1RpbWUiOiIyMDI1LTA0LTE3VDA2OjE0OjIzWiIsInBJRCI6MSwicHJvY2Vzc0lkIjoxNjc2MCwicHJvY2Vzc05hbWUiOiJQT1dFUlBOVC5FWEUiLCJ0cmFjZUlkIjoiQzYwNTg1MjJFOURBNEI0N0E3NEQ1RjczQUVGNDJBQjEiLCJ1c2VyQ29kZSI6InNya2FuZyJ9LCJub2RlNCI6eyJkc2QiOiIwMTAwMDAwMDAwMDAyNDUzIiwibG9nVGltZSI6IjIwMjUtMDQtMjFUMDE6NTY6MzdaIiwicElEIjoxLCJwcm9jZXNzSWQiOjE2NzYwLCJwcm9jZXNzTmFtZSI6IlBPV0VSUE5ULkVYRSIsInRyYWNlSWQiOiJBMjlFNjQzOUUzMkY0Qjk2QTlFNDQxOThEN0VFNUEyOSIsInVzZXJDb2RlIjoic3JrYW5nIn0sIm5vZGU1Ijp7ImRzZCI6IjAwMDAwMDAwMDAwMDAwMDAiLCJsb2dUaW1lIjoiMjAyNS0wNC0yMVQwMjowNDo0OFoiLCJwSUQiOjIwNDgsInByb2Nlc3NJZCI6MTQ3MDgsInByb2Nlc3NOYW1lIjoiUE9XRVJQTlQuRVhFIiwidHJhY2VJZCI6Ijc1NEVBQ0MzODVDMjQxOEQ4QkNDREYyNjAyQUMzQzZBIiwidXNlckNvZGUiOiJzcmthbmcifSwibm9kZUNvdW50IjoxNCwicm9vdFRyYWNlSWQiOiIwOTlDNTVDQzQxRjM0MEFBOUQyQ0M1RTIwQjg5NDE1MiJ9</vt:lpwstr>
  </property>
  <property fmtid="{D5CDD505-2E9C-101B-9397-08002B2CF9AE}" pid="3" name="ICV">
    <vt:lpwstr>7DA738A9565B49BB82B1FA7D4CB60389</vt:lpwstr>
  </property>
  <property fmtid="{D5CDD505-2E9C-101B-9397-08002B2CF9AE}" pid="4" name="KSOProductBuildVer">
    <vt:lpwstr>1033-11.2.0.11516</vt:lpwstr>
  </property>
</Properties>
</file>