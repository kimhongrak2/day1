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90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완료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04/20 월</c:v>
                </c:pt>
                <c:pt idx="1">
                  <c:v>04/21 화</c:v>
                </c:pt>
                <c:pt idx="2">
                  <c:v>04/22 수</c:v>
                </c:pt>
                <c:pt idx="3">
                  <c:v>04/23 목</c:v>
                </c:pt>
                <c:pt idx="4">
                  <c:v>04/24 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68</c:v>
                </c:pt>
                <c:pt idx="2">
                  <c:v>52</c:v>
                </c:pt>
                <c:pt idx="3">
                  <c:v>66</c:v>
                </c:pt>
                <c:pt idx="4">
                  <c:v>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처리</c:v>
                </c:pt>
              </c:strCache>
            </c:strRef>
          </c:tx>
          <c:spPr>
            <a:solidFill>
              <a:srgbClr val="D6E4F7"/>
            </a:solidFill>
          </c:spPr>
          <c:dLbls>
            <c:txPr>
              <a:bodyPr/>
              <a:lstStyle/>
              <a:p>
                <a:pPr>
                  <a:defRPr sz="800" b="1">
                    <a:solidFill>
                      <a:srgbClr val="1F3864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04/20 월</c:v>
                </c:pt>
                <c:pt idx="1">
                  <c:v>04/21 화</c:v>
                </c:pt>
                <c:pt idx="2">
                  <c:v>04/22 수</c:v>
                </c:pt>
                <c:pt idx="3">
                  <c:v>04/23 목</c:v>
                </c:pt>
                <c:pt idx="4">
                  <c:v>04/24 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</c:v>
                </c:pt>
                <c:pt idx="1">
                  <c:v>73</c:v>
                </c:pt>
                <c:pt idx="2">
                  <c:v>55</c:v>
                </c:pt>
                <c:pt idx="3">
                  <c:v>73</c:v>
                </c:pt>
                <c:pt idx="4">
                  <c:v>68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00000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27" y="-15552"/>
            <a:ext cx="6872946" cy="6480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64008"/>
            <a:ext cx="66751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맑은 고딕"/>
                <a:ea typeface="맑은 고딕"/>
              </a:rPr>
              <a:t>주간 운영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658368"/>
            <a:ext cx="6675120" cy="457200"/>
          </a:xfrm>
          <a:prstGeom prst="rect">
            <a:avLst/>
          </a:prstGeom>
          <a:solidFill>
            <a:srgbClr val="EAF2FF"/>
          </a:solidFill>
          <a:ln w="6350">
            <a:solidFill>
              <a:srgbClr val="C8D0E0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67640" y="65836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 lIns="63500" rIns="63500" tIns="12700" bIns="12700">
            <a:spAutoFit/>
          </a:bodyPr>
          <a:lstStyle/>
          <a:p>
            <a:pPr algn="l"/>
            <a:r>
              <a:rPr sz="850" b="1" i="0">
                <a:solidFill>
                  <a:srgbClr val="1F3864"/>
                </a:solidFill>
                <a:latin typeface="맑은 고딕"/>
                <a:ea typeface="맑은 고딕"/>
              </a:rPr>
              <a:t>Daily Operations · 일자별 처리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658368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445588"/>
                </a:solidFill>
                <a:latin typeface="맑은 고딕"/>
                <a:ea typeface="맑은 고딕"/>
              </a:rPr>
              <a:t>총 처리
</a:t>
            </a:r>
          </a:p>
          <a:p>
            <a:pPr algn="ctr"/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</a:rPr>
              <a:t>342 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9816" y="740664"/>
            <a:ext cx="13716" cy="292608"/>
          </a:xfrm>
          <a:prstGeom prst="rect">
            <a:avLst/>
          </a:prstGeom>
          <a:solidFill>
            <a:srgbClr val="C8D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145536" y="658368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445588"/>
                </a:solidFill>
                <a:latin typeface="맑은 고딕"/>
                <a:ea typeface="맑은 고딕"/>
              </a:rPr>
              <a:t>일평균
</a:t>
            </a:r>
          </a:p>
          <a:p>
            <a:pPr algn="ctr"/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</a:rPr>
              <a:t>68.4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9392" y="740664"/>
            <a:ext cx="13716" cy="292608"/>
          </a:xfrm>
          <a:prstGeom prst="rect">
            <a:avLst/>
          </a:prstGeom>
          <a:solidFill>
            <a:srgbClr val="C8D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325112" y="658368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445588"/>
                </a:solidFill>
                <a:latin typeface="맑은 고딕"/>
                <a:ea typeface="맑은 고딕"/>
              </a:rPr>
              <a:t>최다 처리일
</a:t>
            </a:r>
          </a:p>
          <a:p>
            <a:pPr algn="ctr"/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</a:rPr>
              <a:t>04/21(화) 73건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8" y="740664"/>
            <a:ext cx="13716" cy="292608"/>
          </a:xfrm>
          <a:prstGeom prst="rect">
            <a:avLst/>
          </a:prstGeom>
          <a:solidFill>
            <a:srgbClr val="C8D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504688" y="658368"/>
            <a:ext cx="113385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445588"/>
                </a:solidFill>
                <a:latin typeface="맑은 고딕"/>
                <a:ea typeface="맑은 고딕"/>
              </a:rPr>
              <a:t>최다 카테고리
</a:t>
            </a:r>
          </a:p>
          <a:p>
            <a:pPr algn="ctr"/>
            <a:r>
              <a:rPr sz="1150" b="1" i="0">
                <a:solidFill>
                  <a:srgbClr val="1F3864"/>
                </a:solidFill>
                <a:latin typeface="맑은 고딕"/>
                <a:ea typeface="맑은 고딕"/>
              </a:rPr>
              <a:t>수출서류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1161288"/>
            <a:ext cx="6675120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" y="1161288"/>
            <a:ext cx="256032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" y="1161288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1161288"/>
            <a:ext cx="63825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일자별 운영 현황   </a:t>
            </a:r>
            <a:r>
              <a:rPr sz="800" b="0" i="1">
                <a:solidFill>
                  <a:srgbClr val="BBCCEE"/>
                </a:solidFill>
                <a:latin typeface="맑은 고딕"/>
                <a:ea typeface="맑은 고딕"/>
              </a:rPr>
              <a:t>Daily Activity Log · 5일 / 10건 카테고리 분류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" y="1371600"/>
          <a:ext cx="667512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76656"/>
                <a:gridCol w="749808"/>
                <a:gridCol w="566928"/>
                <a:gridCol w="365760"/>
                <a:gridCol w="365760"/>
                <a:gridCol w="365760"/>
                <a:gridCol w="3035808"/>
              </a:tblGrid>
              <a:tr h="279400"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팀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총 / 완료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오류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이슈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사항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04/20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(월)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물류운영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수출서류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42 / 39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선적서류 보완 요청 증가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물류운영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통관대응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31 / 29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오전 시간대 통관 문의 집중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04/21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물류운영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수출서류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45 / 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거래처 코드 불일치 2건 발생 (반복위험)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영업지원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견적대응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28 /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단가 확인 요청 증가 (해외 거래처)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04/22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(수)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영업지원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계약검토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19 / 17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법무팀 회신 대기 (수요일 오전 요청)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재고관리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재고확인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36 / 35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특이사항 없음 (정상 운영)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04/23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입출고확인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40 / 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입고 예정일 변경 문의 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물류운영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통관대응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33 /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HS 코드 재확인 필요 (반복위험)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 rowSpan="2"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04/24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F3864"/>
                          </a:solidFill>
                          <a:latin typeface="맑은 고딕"/>
                          <a:ea typeface="맑은 고딕"/>
                        </a:rPr>
                        <a:t>(금)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영업지원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견적대응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30 / 28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긴급 견적 요청 3건 (월요일 회신 필요)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재고관리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재고확인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38 / 34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재고 수량 불일치 — 입고 처리 시점 차이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440" y="4236720"/>
            <a:ext cx="6675120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" y="4236720"/>
            <a:ext cx="256032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" y="4236720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236720"/>
            <a:ext cx="63825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일별 처리 부하   </a:t>
            </a:r>
            <a:r>
              <a:rPr sz="800" b="0" i="1">
                <a:solidFill>
                  <a:srgbClr val="BBCCEE"/>
                </a:solidFill>
                <a:latin typeface="맑은 고딕"/>
                <a:ea typeface="맑은 고딕"/>
              </a:rPr>
              <a:t>Daily Load Pattern · 처리량 / 완료율 추이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91440" y="4456176"/>
          <a:ext cx="6675120" cy="16276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91440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5882640"/>
            <a:ext cx="1335024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맑은 고딕"/>
                <a:ea typeface="맑은 고딕"/>
              </a:rPr>
              <a:t>완료율 91%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" y="6129528"/>
            <a:ext cx="6675120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" y="6129528"/>
            <a:ext cx="256032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440" y="6129528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6129528"/>
            <a:ext cx="63825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운영 인사이트   </a:t>
            </a:r>
            <a:r>
              <a:rPr sz="800" b="0" i="1">
                <a:solidFill>
                  <a:srgbClr val="BBCCEE"/>
                </a:solidFill>
                <a:latin typeface="맑은 고딕"/>
                <a:ea typeface="맑은 고딕"/>
              </a:rPr>
              <a:t>Operational Insights · 데이터 기반 관찰 결과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" y="6330696"/>
            <a:ext cx="6675120" cy="1024128"/>
          </a:xfrm>
          <a:prstGeom prst="rect">
            <a:avLst/>
          </a:prstGeom>
          <a:solidFill>
            <a:srgbClr val="F3F6FB"/>
          </a:solidFill>
          <a:ln w="6350">
            <a:solidFill>
              <a:srgbClr val="C8D0E0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67640" y="633069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007000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6330696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월·화·목 처리량 집중 (73건/일) — 통관·수출서류 영향. 인력 배치 최적화 검토 가치.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640" y="6586728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007000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6586728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수요일 처리량 최저 (55건) — 계약검토 대기, 재고 정상으로 분산 처리 여력 확보.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640" y="6842760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BF5C00"/>
                </a:solidFill>
                <a:latin typeface="맑은 고딕"/>
                <a:ea typeface="맑은 고딕"/>
              </a:rPr>
              <a:t>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6842760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금요일 완료율 91% — 긴급 견적 + 재고 불일치 동시 발생. 월요일 처리 카테고리 우선순위 정리 필요.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7640" y="7098792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BF5C00"/>
                </a:solidFill>
                <a:latin typeface="맑은 고딕"/>
                <a:ea typeface="맑은 고딕"/>
              </a:rPr>
              <a:t>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7098792"/>
            <a:ext cx="6327648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맑은 고딕"/>
                <a:ea typeface="맑은 고딕"/>
              </a:rPr>
              <a:t>수출서류 오류율 3.4% (전체 평균 2.3% 대비 +1.1%p) — 거래처 코드 검증 절차 도입으로 개선 가능.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" y="7400544"/>
            <a:ext cx="6675120" cy="20116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1440" y="7400544"/>
            <a:ext cx="256032" cy="2011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1440" y="7400544"/>
            <a:ext cx="25603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7400544"/>
            <a:ext cx="6382512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63500" rIns="635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맑은 고딕"/>
                <a:ea typeface="맑은 고딕"/>
              </a:rPr>
              <a:t>전주 대비 비교   </a:t>
            </a:r>
            <a:r>
              <a:rPr sz="800" b="0" i="1">
                <a:solidFill>
                  <a:srgbClr val="BBCCEE"/>
                </a:solidFill>
                <a:latin typeface="맑은 고딕"/>
                <a:ea typeface="맑은 고딕"/>
              </a:rPr>
              <a:t>Week-over-Week · W16 vs W17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91440" y="7610856"/>
          <a:ext cx="6675119" cy="161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70432"/>
                <a:gridCol w="1170432"/>
                <a:gridCol w="1024128"/>
                <a:gridCol w="1892807"/>
              </a:tblGrid>
              <a:tr h="279400"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W16 (전주)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W17 (금주)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증감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추세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총 처리 건수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324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342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맑은 고딕"/>
                          <a:ea typeface="맑은 고딕"/>
                        </a:rPr>
                        <a:t>▲ +18건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 증가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완료율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91.2 %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92.4 %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맑은 고딕"/>
                          <a:ea typeface="맑은 고딕"/>
                        </a:rPr>
                        <a:t>▲ +1.2%p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안정 단계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지연 건수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29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26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BF0000"/>
                          </a:solidFill>
                          <a:latin typeface="맑은 고딕"/>
                          <a:ea typeface="맑은 고딕"/>
                        </a:rPr>
                        <a:t>▼ -3건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 추세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오류 건수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11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 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BF0000"/>
                          </a:solidFill>
                          <a:latin typeface="맑은 고딕"/>
                          <a:ea typeface="맑은 고딕"/>
                        </a:rPr>
                        <a:t>▼ -3건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 추세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고객 이슈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15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17 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ctr"/>
                      <a:r>
                        <a:rPr sz="900" b="0">
                          <a:solidFill>
                            <a:srgbClr val="007000"/>
                          </a:solidFill>
                          <a:latin typeface="맑은 고딕"/>
                          <a:ea typeface="맑은 고딕"/>
                        </a:rPr>
                        <a:t>▲ +2건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 wrap="square" anchor="ctr" lIns="38100" rIns="25400" tIns="12700" bIns="12700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주의 필요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